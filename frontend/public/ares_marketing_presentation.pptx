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F3FF"/>
                </a:solidFill>
                <a:latin typeface="Arial"/>
              </a:defRPr>
            </a:pPr>
            <a:r>
              <a:t>ARIES L1 BLOCKCHAIN</a:t>
            </a:r>
          </a:p>
          <a:p>
            <a:pPr>
              <a:spcBef>
                <a:spcPts val="2000"/>
              </a:spcBef>
              <a:defRPr sz="2800" b="1">
                <a:solidFill>
                  <a:srgbClr val="FFD700"/>
                </a:solidFill>
                <a:latin typeface="Arial"/>
              </a:defRPr>
            </a:pPr>
            <a:r>
              <a:t>The Sovereign EVM-Cosmos Powerhouse</a:t>
            </a:r>
          </a:p>
          <a:p>
            <a:pPr>
              <a:spcBef>
                <a:spcPts val="3000"/>
              </a:spcBef>
              <a:defRPr sz="1800">
                <a:solidFill>
                  <a:srgbClr val="9CA3AF"/>
                </a:solidFill>
                <a:latin typeface="Arial"/>
              </a:defRPr>
            </a:pPr>
            <a:r>
              <a:t>High-Throughput Yield Protocol &amp; Decentralized Application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F4F6"/>
                </a:solidFill>
                <a:latin typeface="Arial"/>
              </a:defRPr>
            </a:pPr>
            <a:r>
              <a:t>Cutting-Edge Blockchain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l">
              <a:spcAft>
                <a:spcPts val="1500"/>
              </a:spcAft>
              <a:defRPr sz="2000" b="1">
                <a:solidFill>
                  <a:srgbClr val="00F3FF"/>
                </a:solidFill>
                <a:latin typeface="Arial"/>
              </a:defRPr>
            </a:pPr>
            <a:r>
              <a:t>1-Second Block Finality</a:t>
            </a:r>
          </a:p>
          <a:p>
            <a:pPr algn="l">
              <a:defRPr sz="1300">
                <a:solidFill>
                  <a:srgbClr val="F3F4F6"/>
                </a:solidFill>
                <a:latin typeface="Arial"/>
              </a:defRPr>
            </a:pPr>
            <a:r>
              <a:t>Engineered using the leading Cosmos SDK and CometBFT consensus engine. Aries delivers instantaneous execution, finality, and sub-penny gas transactions that put older EVM networks to shame.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645920"/>
            <a:ext cx="329184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l">
              <a:spcAft>
                <a:spcPts val="15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High-Throughput Security</a:t>
            </a:r>
          </a:p>
          <a:p>
            <a:pPr algn="l">
              <a:defRPr sz="1300">
                <a:solidFill>
                  <a:srgbClr val="F3F4F6"/>
                </a:solidFill>
                <a:latin typeface="Arial"/>
              </a:defRPr>
            </a:pPr>
            <a:r>
              <a:t>Designed on a production-ready Sentry Node network architecture. Our validator core is completely hidden from public access, offering institutional-grade DDoS mitigation and state protection.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0" y="1645920"/>
            <a:ext cx="329184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l">
              <a:spcAft>
                <a:spcPts val="1500"/>
              </a:spcAft>
              <a:defRPr sz="2000" b="1">
                <a:solidFill>
                  <a:srgbClr val="FFD700"/>
                </a:solidFill>
                <a:latin typeface="Arial"/>
              </a:defRPr>
            </a:pPr>
            <a:r>
              <a:t>EIP-1559 Base Fee Burn</a:t>
            </a:r>
          </a:p>
          <a:p>
            <a:pPr algn="l">
              <a:defRPr sz="1300">
                <a:solidFill>
                  <a:srgbClr val="F3F4F6"/>
                </a:solidFill>
                <a:latin typeface="Arial"/>
              </a:defRPr>
            </a:pPr>
            <a:r>
              <a:t>Equipped with a native gas model that burns ARES coins dynamically under network congestion. This deflationary loop protects coin supply while ensuring priority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F4F6"/>
                </a:solidFill>
                <a:latin typeface="Arial"/>
              </a:defRPr>
            </a:pPr>
            <a:r>
              <a:t>The Staking Yield Standard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l">
              <a:defRPr sz="1600">
                <a:solidFill>
                  <a:srgbClr val="9CA3AF"/>
                </a:solidFill>
                <a:latin typeface="Arial"/>
              </a:defRPr>
            </a:pPr>
            <a:r>
              <a:t>THE REWARD PROTOCOL</a:t>
            </a:r>
          </a:p>
          <a:p>
            <a:pPr>
              <a:spcBef>
                <a:spcPts val="1000"/>
              </a:spcBef>
              <a:defRPr sz="4400" b="1">
                <a:solidFill>
                  <a:srgbClr val="FFD700"/>
                </a:solidFill>
                <a:latin typeface="Arial"/>
              </a:defRPr>
            </a:pPr>
            <a:r>
              <a:t>9.0% MONTHLY</a:t>
            </a:r>
          </a:p>
          <a:p>
            <a:pPr>
              <a:spcBef>
                <a:spcPts val="1000"/>
              </a:spcBef>
              <a:defRPr sz="2000">
                <a:solidFill>
                  <a:srgbClr val="F3F4F6"/>
                </a:solidFill>
                <a:latin typeface="Arial"/>
              </a:defRPr>
            </a:pPr>
            <a:r>
              <a:t>Personal Staking Yield</a:t>
            </a:r>
          </a:p>
          <a:p>
            <a:pPr>
              <a:spcBef>
                <a:spcPts val="2500"/>
              </a:spcBef>
              <a:defRPr sz="1400">
                <a:solidFill>
                  <a:srgbClr val="F3F4F6"/>
                </a:solidFill>
                <a:latin typeface="Arial"/>
              </a:defRPr>
            </a:pPr>
            <a:r>
              <a:t>Yield accrues per-second directly to the smart ledger database, capped at a massive 2.5x lifetime payout limit on your validation deposit.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0F3FF"/>
                </a:solidFill>
                <a:latin typeface="Arial"/>
              </a:defRPr>
            </a:pPr>
            <a:r>
              <a:t>Why Delegate Your ARES Coins?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FD700"/>
                </a:solidFill>
              </a:rPr>
              <a:t>Secured by Design:</a:t>
            </a:r>
            <a:r>
              <a:rPr>
                <a:solidFill>
                  <a:srgbClr val="F3F4F6"/>
                </a:solidFill>
              </a:rPr>
              <a:t> Your funds remain locked securely in standard Cosmos validator nodes.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F3FF"/>
                </a:solidFill>
              </a:rPr>
              <a:t>Continuous Compounding:</a:t>
            </a:r>
            <a:r>
              <a:rPr>
                <a:solidFill>
                  <a:srgbClr val="F3F4F6"/>
                </a:solidFill>
              </a:rPr>
              <a:t> Claims and rewards accrue in real-time on the ledger database.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3F4F6"/>
                </a:solidFill>
              </a:rPr>
              <a:t>Deflationary Offsets:</a:t>
            </a:r>
            <a:r>
              <a:rPr>
                <a:solidFill>
                  <a:srgbClr val="F3F4F6"/>
                </a:solidFill>
              </a:rPr>
              <a:t> Gas burn from active transactions continuously protects the economy.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FFD700"/>
                </a:solidFill>
              </a:rPr>
              <a:t>Kill Your Bills:</a:t>
            </a:r>
            <a:r>
              <a:rPr>
                <a:solidFill>
                  <a:srgbClr val="F3F4F6"/>
                </a:solidFill>
              </a:rPr>
              <a:t> Earn enough rewards to offset actual real-life expenses like electricity, hosting, and mobile bills.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F4F6"/>
                </a:solidFill>
                <a:latin typeface="Arial"/>
              </a:defRPr>
            </a:pPr>
            <a:r>
              <a:t>Ares ChainSupport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10312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37160" rIns="137160"/>
          <a:lstStyle/>
          <a:p>
            <a:pPr algn="ctr">
              <a:spcAft>
                <a:spcPts val="15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Starter Plan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FD700"/>
                </a:solidFill>
                <a:latin typeface="Arial"/>
              </a:defRPr>
            </a:pPr>
            <a:r>
              <a:t>100 ARES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Yield (9%):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9 ARES / mo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MLM MATRIX:</a:t>
            </a:r>
          </a:p>
          <a:p>
            <a:pPr algn="ctr">
              <a:defRPr sz="1300" b="1">
                <a:solidFill>
                  <a:srgbClr val="F3F4F6"/>
                </a:solidFill>
                <a:latin typeface="Arial"/>
              </a:defRPr>
            </a:pPr>
            <a:r>
              <a:t>Level 1 Unlocked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645920"/>
            <a:ext cx="210312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37160" rIns="137160"/>
          <a:lstStyle/>
          <a:p>
            <a:pPr algn="ctr">
              <a:spcAft>
                <a:spcPts val="15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Builder Plan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FD700"/>
                </a:solidFill>
                <a:latin typeface="Arial"/>
              </a:defRPr>
            </a:pPr>
            <a:r>
              <a:t>1,000 ARES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Yield (9%):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90 ARES / mo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MLM MATRIX:</a:t>
            </a:r>
          </a:p>
          <a:p>
            <a:pPr algn="ctr">
              <a:defRPr sz="1300" b="1">
                <a:solidFill>
                  <a:srgbClr val="F3F4F6"/>
                </a:solidFill>
                <a:latin typeface="Arial"/>
              </a:defRPr>
            </a:pPr>
            <a:r>
              <a:t>Level 1 Unlocked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645920"/>
            <a:ext cx="210312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37160" rIns="137160"/>
          <a:lstStyle/>
          <a:p>
            <a:pPr algn="ctr">
              <a:spcAft>
                <a:spcPts val="15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Leader Plan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FD700"/>
                </a:solidFill>
                <a:latin typeface="Arial"/>
              </a:defRPr>
            </a:pPr>
            <a:r>
              <a:t>5,000 ARES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Yield (9%):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450 ARES / mo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MLM MATRIX:</a:t>
            </a:r>
          </a:p>
          <a:p>
            <a:pPr algn="ctr">
              <a:defRPr sz="1300" b="1">
                <a:solidFill>
                  <a:srgbClr val="F3F4F6"/>
                </a:solidFill>
                <a:latin typeface="Arial"/>
              </a:defRPr>
            </a:pPr>
            <a:r>
              <a:t>Levels 1-5 Unlocked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210312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37160" rIns="137160"/>
          <a:lstStyle/>
          <a:p>
            <a:pPr algn="ctr">
              <a:spcAft>
                <a:spcPts val="15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Executive Plan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FD700"/>
                </a:solidFill>
                <a:latin typeface="Arial"/>
              </a:defRPr>
            </a:pPr>
            <a:r>
              <a:t>15,000 ARES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Yield (9%):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1,350 ARES / mo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MLM MATRIX:</a:t>
            </a:r>
          </a:p>
          <a:p>
            <a:pPr algn="ctr">
              <a:defRPr sz="1300" b="1">
                <a:solidFill>
                  <a:srgbClr val="F3F4F6"/>
                </a:solidFill>
                <a:latin typeface="Arial"/>
              </a:defRPr>
            </a:pPr>
            <a:r>
              <a:t>Levels 1-8 Unlocked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645920"/>
            <a:ext cx="2103120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37160" rIns="137160"/>
          <a:lstStyle/>
          <a:p>
            <a:pPr algn="ctr">
              <a:spcAft>
                <a:spcPts val="15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Crown Sovereign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FFD700"/>
                </a:solidFill>
                <a:latin typeface="Arial"/>
              </a:defRPr>
            </a:pPr>
            <a:r>
              <a:t>50,000 ARES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Yield (9%):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4,500 ARES / mo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MLM MATRIX:</a:t>
            </a:r>
          </a:p>
          <a:p>
            <a:pPr algn="ctr">
              <a:defRPr sz="1300" b="1">
                <a:solidFill>
                  <a:srgbClr val="F3F4F6"/>
                </a:solidFill>
                <a:latin typeface="Arial"/>
              </a:defRPr>
            </a:pPr>
            <a:r>
              <a:t>All 10 Levels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F4F6"/>
                </a:solidFill>
                <a:latin typeface="Arial"/>
              </a:defRPr>
            </a:pPr>
            <a:r>
              <a:t>Upcoming Ecosystem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29184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Smart Real Estate &amp; EMI</a:t>
            </a:r>
          </a:p>
          <a:p>
            <a:pPr>
              <a:defRPr sz="1150">
                <a:solidFill>
                  <a:srgbClr val="F3F4F6"/>
                </a:solidFill>
                <a:latin typeface="Arial"/>
              </a:defRPr>
            </a:pPr>
            <a:r>
              <a:t>Buy, sell, or rent plots, farms, and shops directly on the blockchain with smart contract land titles and automated ARES EMI installments.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645920"/>
            <a:ext cx="329184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Decentralized Chat &amp; Mail</a:t>
            </a:r>
          </a:p>
          <a:p>
            <a:pPr>
              <a:defRPr sz="1150">
                <a:solidFill>
                  <a:srgbClr val="F3F4F6"/>
                </a:solidFill>
                <a:latin typeface="Arial"/>
              </a:defRPr>
            </a:pPr>
            <a:r>
              <a:t>End-to-end encrypted email and messaging networks anchored on the Ares blockchain for complete data privacy and security.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0" y="1645920"/>
            <a:ext cx="329184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Super Chat for Streamers</a:t>
            </a:r>
          </a:p>
          <a:p>
            <a:pPr>
              <a:defRPr sz="1150">
                <a:solidFill>
                  <a:srgbClr val="F3F4F6"/>
                </a:solidFill>
                <a:latin typeface="Arial"/>
              </a:defRPr>
            </a:pPr>
            <a:r>
              <a:t>A decentralized tipping and live engagement system for content creators. High-speed micro-donations directly in ARES.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23360"/>
            <a:ext cx="329184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F3FF"/>
                </a:solidFill>
                <a:latin typeface="Arial"/>
              </a:defRPr>
            </a:pPr>
            <a:r>
              <a:t>Community E-Commerce</a:t>
            </a:r>
          </a:p>
          <a:p>
            <a:pPr>
              <a:defRPr sz="1150">
                <a:solidFill>
                  <a:srgbClr val="F3F4F6"/>
                </a:solidFill>
                <a:latin typeface="Arial"/>
              </a:defRPr>
            </a:pPr>
            <a:r>
              <a:t>A peer-to-peer marketplace powered by smart contracts. Users buy/sell goods with zero platform commissions and community escrow.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4023360"/>
            <a:ext cx="329184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D700"/>
                </a:solidFill>
                <a:latin typeface="Arial"/>
              </a:defRPr>
            </a:pPr>
            <a:r>
              <a:t>Immortal Pics &amp; Family Tree</a:t>
            </a:r>
          </a:p>
          <a:p>
            <a:pPr>
              <a:defRPr sz="1150">
                <a:solidFill>
                  <a:srgbClr val="F3F4F6"/>
                </a:solidFill>
                <a:latin typeface="Arial"/>
              </a:defRPr>
            </a:pPr>
            <a:r>
              <a:t>Upload cherished family memories to a permanent photo ledger. Free from subscriptions, and generate secure on-chain family trees.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4023360"/>
            <a:ext cx="3291840" cy="2011680"/>
          </a:xfrm>
          <a:prstGeom prst="rect">
            <a:avLst/>
          </a:prstGeom>
          <a:solidFill>
            <a:srgbClr val="0F172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D700"/>
                </a:solidFill>
                <a:latin typeface="Arial"/>
              </a:defRPr>
            </a:pPr>
            <a:r>
              <a:t>Payment Gateway APIs</a:t>
            </a:r>
          </a:p>
          <a:p>
            <a:pPr>
              <a:defRPr sz="1150">
                <a:solidFill>
                  <a:srgbClr val="F3F4F6"/>
                </a:solidFill>
                <a:latin typeface="Arial"/>
              </a:defRPr>
            </a:pPr>
            <a:r>
              <a:t>Enterprise settlement APIs that allow online businesses to accept ARES payments instantly with sub-penny merchant fees.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F4F6"/>
                </a:solidFill>
                <a:latin typeface="Arial"/>
              </a:defRPr>
            </a:pPr>
            <a:r>
              <a:t>Live Rewards &amp; Consolation Prizes</a:t>
            </a:r>
          </a:p>
        </p:txBody>
      </p:sp>
      <p:pic>
        <p:nvPicPr>
          <p:cNvPr id="3" name="Picture 2" descr="ares_prizes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0F3FF"/>
                </a:solidFill>
                <a:latin typeface="Arial"/>
              </a:defRPr>
            </a:pPr>
            <a:r>
              <a:t>Achieve Team Volume &amp; Unlock Rewards</a:t>
            </a:r>
          </a:p>
          <a:p>
            <a:pPr>
              <a:spcAft>
                <a:spcPts val="1000"/>
              </a:spcAft>
              <a:defRPr sz="1400">
                <a:solidFill>
                  <a:srgbClr val="00F3FF"/>
                </a:solidFill>
                <a:latin typeface="Arial"/>
              </a:defRPr>
            </a:pPr>
            <a:r>
              <a:t>✔  </a:t>
            </a:r>
            <a:r>
              <a:rPr b="1">
                <a:solidFill>
                  <a:srgbClr val="F3F4F6"/>
                </a:solidFill>
              </a:rPr>
              <a:t>Power Bank: </a:t>
            </a:r>
            <a:r>
              <a:rPr b="1">
                <a:solidFill>
                  <a:srgbClr val="FFD700"/>
                </a:solidFill>
              </a:rPr>
              <a:t>Unlocked at 15,000 ARES Volume</a:t>
            </a:r>
          </a:p>
          <a:p>
            <a:pPr>
              <a:spcAft>
                <a:spcPts val="1000"/>
              </a:spcAft>
              <a:defRPr sz="1400">
                <a:solidFill>
                  <a:srgbClr val="00F3FF"/>
                </a:solidFill>
                <a:latin typeface="Arial"/>
              </a:defRPr>
            </a:pPr>
            <a:r>
              <a:t>✔  </a:t>
            </a:r>
            <a:r>
              <a:rPr b="1">
                <a:solidFill>
                  <a:srgbClr val="F3F4F6"/>
                </a:solidFill>
              </a:rPr>
              <a:t>Smart Watch: </a:t>
            </a:r>
            <a:r>
              <a:rPr b="1">
                <a:solidFill>
                  <a:srgbClr val="FFD700"/>
                </a:solidFill>
              </a:rPr>
              <a:t>Unlocked at 25,000 ARES Volume</a:t>
            </a:r>
          </a:p>
          <a:p>
            <a:pPr>
              <a:spcAft>
                <a:spcPts val="1000"/>
              </a:spcAft>
              <a:defRPr sz="1400">
                <a:solidFill>
                  <a:srgbClr val="00F3FF"/>
                </a:solidFill>
                <a:latin typeface="Arial"/>
              </a:defRPr>
            </a:pPr>
            <a:r>
              <a:t>✔  </a:t>
            </a:r>
            <a:r>
              <a:rPr b="1">
                <a:solidFill>
                  <a:srgbClr val="F3F4F6"/>
                </a:solidFill>
              </a:rPr>
              <a:t>Apple iPad: </a:t>
            </a:r>
            <a:r>
              <a:rPr b="1">
                <a:solidFill>
                  <a:srgbClr val="FFD700"/>
                </a:solidFill>
              </a:rPr>
              <a:t>Unlocked at 60,000 ARES Volume</a:t>
            </a:r>
          </a:p>
          <a:p>
            <a:pPr>
              <a:spcAft>
                <a:spcPts val="1000"/>
              </a:spcAft>
              <a:defRPr sz="1400">
                <a:solidFill>
                  <a:srgbClr val="00F3FF"/>
                </a:solidFill>
                <a:latin typeface="Arial"/>
              </a:defRPr>
            </a:pPr>
            <a:r>
              <a:t>✔  </a:t>
            </a:r>
            <a:r>
              <a:rPr b="1">
                <a:solidFill>
                  <a:srgbClr val="F3F4F6"/>
                </a:solidFill>
              </a:rPr>
              <a:t>Premium Phone: </a:t>
            </a:r>
            <a:r>
              <a:rPr b="1">
                <a:solidFill>
                  <a:srgbClr val="FFD700"/>
                </a:solidFill>
              </a:rPr>
              <a:t>Unlocked at 90,000 ARES Volume</a:t>
            </a:r>
          </a:p>
          <a:p>
            <a:pPr>
              <a:spcAft>
                <a:spcPts val="1000"/>
              </a:spcAft>
              <a:defRPr sz="1400">
                <a:solidFill>
                  <a:srgbClr val="00F3FF"/>
                </a:solidFill>
                <a:latin typeface="Arial"/>
              </a:defRPr>
            </a:pPr>
            <a:r>
              <a:t>✔  </a:t>
            </a:r>
            <a:r>
              <a:rPr b="1">
                <a:solidFill>
                  <a:srgbClr val="F3F4F6"/>
                </a:solidFill>
              </a:rPr>
              <a:t>Premium Laptop: </a:t>
            </a:r>
            <a:r>
              <a:rPr b="1">
                <a:solidFill>
                  <a:srgbClr val="FFD700"/>
                </a:solidFill>
              </a:rPr>
              <a:t>Unlocked at 130,000 ARES Volume</a:t>
            </a:r>
          </a:p>
          <a:p>
            <a:pPr>
              <a:spcAft>
                <a:spcPts val="1000"/>
              </a:spcAft>
              <a:defRPr sz="1400">
                <a:solidFill>
                  <a:srgbClr val="00F3FF"/>
                </a:solidFill>
                <a:latin typeface="Arial"/>
              </a:defRPr>
            </a:pPr>
            <a:r>
              <a:t>✔  </a:t>
            </a:r>
            <a:r>
              <a:rPr b="1">
                <a:solidFill>
                  <a:srgbClr val="F3F4F6"/>
                </a:solidFill>
              </a:rPr>
              <a:t>Smart E-Scooter: </a:t>
            </a:r>
            <a:r>
              <a:rPr b="1">
                <a:solidFill>
                  <a:srgbClr val="FFD700"/>
                </a:solidFill>
              </a:rPr>
              <a:t>Unlocked at 250,000 ARES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F4F6"/>
                </a:solidFill>
                <a:latin typeface="Arial"/>
              </a:defRPr>
            </a:pPr>
            <a:r>
              <a:t>10-Level Referral Commission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1500"/>
              </a:spcAft>
              <a:defRPr sz="1400" b="1">
                <a:solidFill>
                  <a:srgbClr val="FFD700"/>
                </a:solidFill>
                <a:latin typeface="Arial"/>
              </a:defRPr>
            </a:pPr>
            <a:r>
              <a:t>THE FUTURE CROWN LEADER ROADMAP</a:t>
            </a:r>
          </a:p>
          <a:p>
            <a:pPr>
              <a:spcAft>
                <a:spcPts val="2000"/>
              </a:spcAft>
              <a:defRPr sz="1300" i="1">
                <a:solidFill>
                  <a:srgbClr val="F3F4F6"/>
                </a:solidFill>
                <a:latin typeface="Arial"/>
              </a:defRPr>
            </a:pPr>
            <a:r>
              <a:t>"I started just like everyone else—with a modest self-stake and a vision. By simply sharing the potential with 5 key builders and letting the 10-level duplication compound, my network scaled beyond my wildest expectations. The 9.0% yield is just the foundation; the real leverage is helping others succeed."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This Crown Leader status is unlocked by driving a team volume of 1M+ ARES. This unlocks the full 10 levels of matching referral income, transforming your hard work into a generational passive asset.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64592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3FF"/>
                          </a:solidFill>
                          <a:latin typeface="Arial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3FF"/>
                          </a:solidFill>
                          <a:latin typeface="Arial"/>
                        </a:defRPr>
                      </a:pPr>
                      <a:r>
                        <a:t>Matching Pct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3FF"/>
                          </a:solidFill>
                          <a:latin typeface="Arial"/>
                        </a:defRPr>
                      </a:pPr>
                      <a:r>
                        <a:t>Rank 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Unlocked by Default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Bronze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Bronze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Silver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Silver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Gold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Gold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Diamond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Diamond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Level 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Crown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